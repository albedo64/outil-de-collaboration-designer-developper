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80" r:id="rId6"/>
    <p:sldId id="281" r:id="rId7"/>
    <p:sldId id="282" r:id="rId8"/>
    <p:sldId id="283" r:id="rId9"/>
    <p:sldId id="284" r:id="rId10"/>
    <p:sldId id="291" r:id="rId11"/>
    <p:sldId id="290" r:id="rId12"/>
    <p:sldId id="30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285" r:id="rId23"/>
    <p:sldId id="288" r:id="rId24"/>
    <p:sldId id="295" r:id="rId25"/>
    <p:sldId id="287" r:id="rId26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74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7FDB26-16AF-4C82-AF7A-92449513F3F4}" type="datetime1">
              <a:rPr lang="fr-FR" smtClean="0"/>
              <a:t>30/10/2025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0E9541-3375-4528-AC9C-1D7FD00C3017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6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86975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B725628-3A68-42F4-BA86-981817953149}" type="slidenum">
              <a:rPr lang="fr-FR" noProof="0" smtClean="0"/>
              <a:t>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14563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fr-FR" noProof="0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E27949C9-1C26-45BB-BA53-FCDDA512553D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70CDC4-B118-436F-8999-4E53124174C8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B3B74C-3552-4EC5-970E-EA08B17DE6C3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6671B-8518-416E-9A93-110C3FC765B0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5CA171-7817-4EB8-BD06-8DC08B6DD669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CB6A67-71AB-4430-8E9A-3C4E54AB6270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8E809-7279-41D4-8D12-46601669AEF8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fr-FR" noProof="0"/>
              <a:t>Modifiez le style du titre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E15B8F-B91C-47AC-B98D-C114892A6229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769C86-3347-4673-9EED-DCA59A1E5DED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8" name="Connecteur droit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1F1C99-0FCE-4E24-B45E-A6B8B87EE97A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fr-FR" noProof="0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2C3B24-D805-4A76-8E65-C9738296B930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fr-FR" noProof="0" smtClean="0"/>
              <a:t>‹N°›</a:t>
            </a:fld>
            <a:endParaRPr lang="fr-FR" noProof="0"/>
          </a:p>
        </p:txBody>
      </p:sp>
      <p:cxnSp>
        <p:nvCxnSpPr>
          <p:cNvPr id="7" name="Connecteur droit 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7726DE0-7F70-4976-999D-381380B45882}" type="datetime1">
              <a:rPr lang="fr-FR" noProof="0" smtClean="0"/>
              <a:t>30/10/2025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cxnSp>
        <p:nvCxnSpPr>
          <p:cNvPr id="7" name="Connecteur droit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3273" y="975"/>
            <a:ext cx="1219198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Rectangle 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Autofit/>
          </a:bodyPr>
          <a:lstStyle/>
          <a:p>
            <a:pPr algn="just"/>
            <a:r>
              <a:rPr lang="fr-FR" sz="2800" noProof="0" dirty="0">
                <a:solidFill>
                  <a:schemeClr val="bg1"/>
                </a:solidFill>
              </a:rPr>
              <a:t>Collaboration Designer/Développeur en Art technologique : Implémentation d’un système de Création d'expériences utilisateur pour une meilleure collaboration Designer/ Développeur. </a:t>
            </a:r>
            <a:endParaRPr lang="fr-FR" sz="2800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/>
          </a:bodyPr>
          <a:lstStyle/>
          <a:p>
            <a:r>
              <a:rPr lang="fr-FR" noProof="0" dirty="0">
                <a:solidFill>
                  <a:schemeClr val="bg1"/>
                </a:solidFill>
              </a:rPr>
              <a:t>ANI-IA 5109 : La Collaboration Designer / Développeur en Art technologique</a:t>
            </a:r>
            <a:endParaRPr lang="fr-FR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83" y="126934"/>
            <a:ext cx="11585916" cy="19583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3893534" y="2085274"/>
            <a:ext cx="3034804" cy="9796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Classe: AN ING 5 AIA</a:t>
            </a:r>
          </a:p>
          <a:p>
            <a:r>
              <a:rPr lang="fr-FR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Enseignant: </a:t>
            </a:r>
            <a:r>
              <a:rPr lang="fr-FR" b="1" noProof="0" dirty="0"/>
              <a:t>Dr TCHAGNA</a:t>
            </a:r>
          </a:p>
          <a:p>
            <a:r>
              <a:rPr lang="fr-FR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Année: 2025-2026</a:t>
            </a: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321346"/>
              </p:ext>
            </p:extLst>
          </p:nvPr>
        </p:nvGraphicFramePr>
        <p:xfrm>
          <a:off x="5579861" y="5553498"/>
          <a:ext cx="659744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664">
                  <a:extLst>
                    <a:ext uri="{9D8B030D-6E8A-4147-A177-3AD203B41FA5}">
                      <a16:colId xmlns:a16="http://schemas.microsoft.com/office/drawing/2014/main" val="1561056459"/>
                    </a:ext>
                  </a:extLst>
                </a:gridCol>
                <a:gridCol w="2797406">
                  <a:extLst>
                    <a:ext uri="{9D8B030D-6E8A-4147-A177-3AD203B41FA5}">
                      <a16:colId xmlns:a16="http://schemas.microsoft.com/office/drawing/2014/main" val="3753736318"/>
                    </a:ext>
                  </a:extLst>
                </a:gridCol>
                <a:gridCol w="2383375">
                  <a:extLst>
                    <a:ext uri="{9D8B030D-6E8A-4147-A177-3AD203B41FA5}">
                      <a16:colId xmlns:a16="http://schemas.microsoft.com/office/drawing/2014/main" val="2842546049"/>
                    </a:ext>
                  </a:extLst>
                </a:gridCol>
              </a:tblGrid>
              <a:tr h="286560">
                <a:tc>
                  <a:txBody>
                    <a:bodyPr/>
                    <a:lstStyle/>
                    <a:p>
                      <a:r>
                        <a:rPr lang="fr-FR" noProof="0" dirty="0"/>
                        <a:t>Matricules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/>
                        <a:t>Noms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/>
                        <a:t>Prénoms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247667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r>
                        <a:rPr lang="fr-FR" noProof="0" dirty="0"/>
                        <a:t>23P731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EYENGA</a:t>
                      </a:r>
                      <a:r>
                        <a:rPr lang="fr-FR" sz="1800" baseline="0" noProof="0" dirty="0"/>
                        <a:t> MINKONDA</a:t>
                      </a:r>
                      <a:endParaRPr lang="fr-FR" sz="18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noProof="0" dirty="0"/>
                        <a:t>Laurentine Serena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1440"/>
                  </a:ext>
                </a:extLst>
              </a:tr>
              <a:tr h="2865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21P550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LOWE NYAT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Fred Nelson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77448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893534" y="5553498"/>
            <a:ext cx="1686327" cy="478026"/>
          </a:xfrm>
          <a:prstGeom prst="rect">
            <a:avLst/>
          </a:prstGeom>
          <a:solidFill>
            <a:schemeClr val="bg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Présenté par:</a:t>
            </a: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5270" y="254443"/>
            <a:ext cx="9477375" cy="1499616"/>
          </a:xfrm>
        </p:spPr>
        <p:txBody>
          <a:bodyPr/>
          <a:lstStyle/>
          <a:p>
            <a:r>
              <a:rPr lang="fr-FR" noProof="0" dirty="0"/>
              <a:t>plan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0C8E47-E983-4FC7-B80D-2E6AB97E1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726" y="2301210"/>
            <a:ext cx="1155700" cy="613833"/>
          </a:xfrm>
          <a:prstGeom prst="rect">
            <a:avLst/>
          </a:prstGeom>
          <a:solidFill>
            <a:srgbClr val="1FD81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00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96B48F-1F52-4675-B9E0-CC42077BE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057" y="2272807"/>
            <a:ext cx="1155700" cy="613833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DCAC5C2-30CD-4485-A23F-BC9AE165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7553" y="2290943"/>
            <a:ext cx="1155700" cy="613833"/>
          </a:xfrm>
          <a:prstGeom prst="rect">
            <a:avLst/>
          </a:prstGeom>
          <a:solidFill>
            <a:srgbClr val="1FD81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00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9344B1C-F901-4AEE-B2DC-117C8F0DF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447" y="4716716"/>
            <a:ext cx="1155700" cy="613833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A383BB0-95C5-4554-B0A9-F73FA0E2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107" y="4672374"/>
            <a:ext cx="1155700" cy="613833"/>
          </a:xfrm>
          <a:prstGeom prst="rect">
            <a:avLst/>
          </a:prstGeom>
          <a:solidFill>
            <a:srgbClr val="1FD81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00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60A758E-348C-4B3E-823D-24390B476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938" y="2311825"/>
            <a:ext cx="1155700" cy="613833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3B5D2D4B-CE9B-4D21-8D9F-15E5C91CE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7" y="3080390"/>
            <a:ext cx="3416300" cy="613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431800" indent="-3238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07950" indent="0" algn="ctr">
              <a:lnSpc>
                <a:spcPct val="90000"/>
              </a:lnSpc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Objectifs du projet</a:t>
            </a:r>
            <a:endParaRPr lang="fr-FR" b="1" noProof="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B19CC51-DA31-49E1-9524-FA41C275B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521" y="2392227"/>
            <a:ext cx="1024467" cy="50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01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AD716A2C-79B3-40AE-A115-612F94062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508" y="3060966"/>
            <a:ext cx="3473449" cy="802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431800" indent="-3238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07950" indent="0" algn="ctr">
              <a:lnSpc>
                <a:spcPct val="90000"/>
              </a:lnSpc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Approche conceptuelle</a:t>
            </a:r>
            <a:endParaRPr lang="fr-FR" b="1" noProof="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994A3F9A-83A4-4E88-9157-7BC94CAE2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483" y="2392227"/>
            <a:ext cx="958851" cy="52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02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379F46FE-0437-4F8D-85E6-C76D00292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4721" y="5416322"/>
            <a:ext cx="3560233" cy="810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431800" indent="-3238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07950" indent="0" algn="ctr">
              <a:lnSpc>
                <a:spcPct val="90000"/>
              </a:lnSpc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sz="1600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  <a:endParaRPr lang="fr-FR" sz="1600" b="1" noProof="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78C08461-3FC1-4D1C-8B8D-1C860A358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844" y="4807733"/>
            <a:ext cx="958851" cy="52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05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AD3C3C97-F16D-471B-AA05-2133DEACC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5644" y="3011145"/>
            <a:ext cx="2885833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07950" indent="0" algn="ctr">
              <a:lnSpc>
                <a:spcPct val="90000"/>
              </a:lnSpc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Technologies utilisées</a:t>
            </a:r>
            <a:endParaRPr lang="fr-FR" sz="1600" b="1" noProof="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5D18A2A5-80F5-4992-81C5-860528547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8175" y="2350347"/>
            <a:ext cx="1024467" cy="47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04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6FC9E3A4-2582-45E9-A7B6-1D48A0F56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344" y="3074848"/>
            <a:ext cx="3416300" cy="8953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120000" tIns="60000" rIns="120000" bIns="60000"/>
          <a:lstStyle>
            <a:lvl1pPr marL="431800" indent="-3238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Architecture du système</a:t>
            </a:r>
            <a:endParaRPr lang="fr-FR" noProof="0" dirty="0">
              <a:solidFill>
                <a:srgbClr val="FFFFFF"/>
              </a:solidFill>
              <a:latin typeface="Raleway" charset="0"/>
            </a:endParaRP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05474478-8D79-40E4-A9E4-E8A9BAA89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830" y="2422431"/>
            <a:ext cx="1024467" cy="52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03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073E9418-9570-4394-B5A0-C9A823FE7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868" y="5377223"/>
            <a:ext cx="3177116" cy="52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431800" indent="-3238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Résultats et évaluation</a:t>
            </a:r>
            <a:endParaRPr lang="fr-FR" noProof="0" dirty="0"/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307F74A1-C9BE-4967-9B99-1B80E49B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215" y="4763390"/>
            <a:ext cx="1024467" cy="522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06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id="{DAE998F1-8695-49F1-82B5-D5677C51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007" y="5538590"/>
            <a:ext cx="4430184" cy="117475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5" name="Picture 21">
            <a:extLst>
              <a:ext uri="{FF2B5EF4-FFF2-40B4-BE49-F238E27FC236}">
                <a16:creationId xmlns:a16="http://schemas.microsoft.com/office/drawing/2014/main" id="{B26CAD3C-F74F-458C-BA8A-6F442F2AD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553" y="830158"/>
            <a:ext cx="1788584" cy="419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Picture 22">
            <a:extLst>
              <a:ext uri="{FF2B5EF4-FFF2-40B4-BE49-F238E27FC236}">
                <a16:creationId xmlns:a16="http://schemas.microsoft.com/office/drawing/2014/main" id="{FFE19A93-72BB-4E04-920E-0B4ACC686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860000">
            <a:off x="108031" y="-428201"/>
            <a:ext cx="1883833" cy="293581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9" name="Rectangle 4">
            <a:extLst>
              <a:ext uri="{FF2B5EF4-FFF2-40B4-BE49-F238E27FC236}">
                <a16:creationId xmlns:a16="http://schemas.microsoft.com/office/drawing/2014/main" id="{3C0BBCFD-A4BB-445D-90FF-B88D2EAB6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7447" y="4686374"/>
            <a:ext cx="1155700" cy="613833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D84869C-7898-4DE3-A152-A885B43E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763905"/>
            <a:ext cx="958851" cy="522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07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4A22D35-3068-4F8F-A0B5-BBE18DC4FD3D}"/>
              </a:ext>
            </a:extLst>
          </p:cNvPr>
          <p:cNvSpPr txBox="1"/>
          <p:nvPr/>
        </p:nvSpPr>
        <p:spPr>
          <a:xfrm>
            <a:off x="3871597" y="1520365"/>
            <a:ext cx="452141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indent="0" algn="ctr">
              <a:lnSpc>
                <a:spcPct val="90000"/>
              </a:lnSpc>
              <a:spcAft>
                <a:spcPts val="1900"/>
              </a:spcAft>
              <a:buClr>
                <a:srgbClr val="FFFFFF"/>
              </a:buClr>
              <a:buSzPct val="45000"/>
            </a:pPr>
            <a:r>
              <a:rPr lang="fr-FR" sz="2400" b="1" noProof="0" dirty="0">
                <a:solidFill>
                  <a:schemeClr val="accent3">
                    <a:lumMod val="75000"/>
                  </a:schemeClr>
                </a:solidFill>
              </a:rPr>
              <a:t>Contexte et problématique</a:t>
            </a:r>
            <a:endParaRPr lang="fr-FR" sz="2400" b="1" noProof="0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6AA51C1-EF18-4EE0-879E-CE0B3B391E57}"/>
              </a:ext>
            </a:extLst>
          </p:cNvPr>
          <p:cNvSpPr txBox="1"/>
          <p:nvPr/>
        </p:nvSpPr>
        <p:spPr>
          <a:xfrm>
            <a:off x="5030471" y="6125966"/>
            <a:ext cx="32007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u="sng" noProof="0" dirty="0">
                <a:solidFill>
                  <a:srgbClr val="00B050"/>
                </a:solidFill>
                <a:latin typeface="Bahnschrift SemiBold SemiConden" panose="020B0502040204020203" pitchFamily="34" charset="0"/>
              </a:rPr>
              <a:t>Conclusion</a:t>
            </a:r>
            <a:endParaRPr lang="fr-FR" sz="2400" i="1" u="sng" noProof="0" dirty="0">
              <a:solidFill>
                <a:srgbClr val="00B05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9340" y="5416322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Difficultés rencontrées</a:t>
            </a:r>
            <a:endParaRPr lang="fr-FR" noProof="0" dirty="0"/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5DCAC5C2-30CD-4485-A23F-BC9AE165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1632" y="4626970"/>
            <a:ext cx="1155700" cy="613833"/>
          </a:xfrm>
          <a:prstGeom prst="rect">
            <a:avLst/>
          </a:prstGeom>
          <a:solidFill>
            <a:srgbClr val="1FD81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00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sz="2400" noProof="0" dirty="0"/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5D18A2A5-80F5-4992-81C5-860528547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5865" y="4742392"/>
            <a:ext cx="1024467" cy="47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0000" tIns="60000" rIns="120000" bIns="60000"/>
          <a:lstStyle>
            <a:lvl1pPr marL="169863" indent="-1698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spcAft>
                <a:spcPts val="1900"/>
              </a:spcAft>
              <a:buClr>
                <a:srgbClr val="FFFFFF"/>
              </a:buClr>
              <a:buSzPct val="45000"/>
              <a:buFont typeface="Arial" panose="020B0604020202020204" pitchFamily="34" charset="0"/>
              <a:buChar char="•"/>
            </a:pPr>
            <a:r>
              <a:rPr lang="fr-FR" sz="1867" noProof="0" dirty="0">
                <a:solidFill>
                  <a:srgbClr val="FFFFFF"/>
                </a:solidFill>
                <a:latin typeface="Raleway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63091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lvl="0" algn="ctr"/>
            <a:r>
              <a:rPr lang="fr-FR" sz="5400" noProof="0" dirty="0">
                <a:solidFill>
                  <a:schemeClr val="accent3">
                    <a:lumMod val="75000"/>
                  </a:schemeClr>
                </a:solidFill>
              </a:rPr>
              <a:t>Contexte et problématique</a:t>
            </a:r>
            <a:endParaRPr lang="fr-FR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24128" y="2005781"/>
            <a:ext cx="9720073" cy="430357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noProof="0" dirty="0"/>
              <a:t>La collaboration entre designers et développeurs est souvent </a:t>
            </a:r>
            <a:r>
              <a:rPr lang="fr-FR" b="1" noProof="0" dirty="0"/>
              <a:t>complexe et fragmentée</a:t>
            </a:r>
            <a:r>
              <a:rPr lang="fr-FR" noProof="0" dirty="0"/>
              <a:t>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fr-FR" noProof="0" dirty="0"/>
              <a:t>Les designers pensent en </a:t>
            </a:r>
            <a:r>
              <a:rPr lang="fr-FR" b="1" noProof="0" dirty="0"/>
              <a:t>expériences et émotions</a:t>
            </a:r>
            <a:r>
              <a:rPr lang="fr-FR" noProof="0" dirty="0"/>
              <a:t>, les développeurs en </a:t>
            </a:r>
            <a:r>
              <a:rPr lang="fr-FR" b="1" noProof="0" dirty="0"/>
              <a:t>logique et structure</a:t>
            </a:r>
            <a:r>
              <a:rPr lang="fr-FR" noProof="0" dirty="0"/>
              <a:t>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fr-FR" noProof="0" dirty="0"/>
              <a:t>En art technologique, cette différence de langage freine la </a:t>
            </a:r>
            <a:r>
              <a:rPr lang="fr-FR" b="1" noProof="0" dirty="0"/>
              <a:t>création fluide d’expériences interactives</a:t>
            </a:r>
            <a:r>
              <a:rPr lang="fr-FR" noProof="0" dirty="0"/>
              <a:t>.</a:t>
            </a:r>
          </a:p>
          <a:p>
            <a:pPr lvl="0">
              <a:buFont typeface="Wingdings" panose="05000000000000000000" pitchFamily="2" charset="2"/>
              <a:buChar char="q"/>
            </a:pPr>
            <a:endParaRPr lang="fr-FR" noProof="0" dirty="0"/>
          </a:p>
          <a:p>
            <a:pPr marL="0" lvl="0" indent="0">
              <a:buNone/>
            </a:pPr>
            <a:br>
              <a:rPr lang="fr-FR" noProof="0" dirty="0"/>
            </a:br>
            <a:r>
              <a:rPr lang="fr-FR" b="1" noProof="0" dirty="0"/>
              <a:t>→ Problème :</a:t>
            </a:r>
            <a:r>
              <a:rPr lang="fr-FR" noProof="0" dirty="0"/>
              <a:t> Comment créer un cadre commun qui permette une compréhension mutuelle et une </a:t>
            </a:r>
            <a:r>
              <a:rPr lang="fr-FR" noProof="0" dirty="0" err="1"/>
              <a:t>co-création</a:t>
            </a:r>
            <a:r>
              <a:rPr lang="fr-FR" noProof="0" dirty="0"/>
              <a:t> harmonieuse ?</a:t>
            </a:r>
          </a:p>
        </p:txBody>
      </p:sp>
    </p:spTree>
    <p:extLst>
      <p:ext uri="{BB962C8B-B14F-4D97-AF65-F5344CB8AC3E}">
        <p14:creationId xmlns:p14="http://schemas.microsoft.com/office/powerpoint/2010/main" val="290719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Objectifs du projet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24128" y="2337435"/>
            <a:ext cx="9720073" cy="4032885"/>
          </a:xfrm>
        </p:spPr>
        <p:txBody>
          <a:bodyPr/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noProof="0" dirty="0"/>
              <a:t>Favoriser la </a:t>
            </a:r>
            <a:r>
              <a:rPr lang="fr-FR" b="1" noProof="0" dirty="0"/>
              <a:t>compréhension mutuelle</a:t>
            </a:r>
            <a:r>
              <a:rPr lang="fr-FR" noProof="0" dirty="0"/>
              <a:t> entre les deux profils.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noProof="0" dirty="0"/>
              <a:t>Créer un </a:t>
            </a:r>
            <a:r>
              <a:rPr lang="fr-FR" b="1" noProof="0" dirty="0"/>
              <a:t>espace commun de communication et d’expérimentation</a:t>
            </a:r>
            <a:r>
              <a:rPr lang="fr-FR" noProof="0" dirty="0"/>
              <a:t>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noProof="0" dirty="0"/>
              <a:t>Permettre la </a:t>
            </a:r>
            <a:r>
              <a:rPr lang="fr-FR" b="1" noProof="0" dirty="0"/>
              <a:t>traduction d’intentions créatives en contraintes techniques</a:t>
            </a:r>
            <a:r>
              <a:rPr lang="fr-FR" noProof="0" dirty="0"/>
              <a:t> (et inversement).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noProof="0" dirty="0"/>
              <a:t>Faciliter la </a:t>
            </a:r>
            <a:r>
              <a:rPr lang="fr-FR" b="1" noProof="0" dirty="0"/>
              <a:t>création d’expériences utilisateur cohérentes et expressives</a:t>
            </a:r>
            <a:r>
              <a:rPr lang="fr-FR" noProof="0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03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Cas d’utilisation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fr-FR" noProof="0" dirty="0"/>
              <a:t>Projet artistique interactif où un designer conçoit un effet lumineux et le développeur l’intègre avec contraintes matérielles.</a:t>
            </a:r>
            <a:br>
              <a:rPr lang="fr-FR" noProof="0" dirty="0"/>
            </a:br>
            <a:r>
              <a:rPr lang="fr-FR" noProof="0" dirty="0"/>
              <a:t>→ La plateforme permet de </a:t>
            </a:r>
            <a:r>
              <a:rPr lang="fr-FR" b="1" noProof="0" dirty="0"/>
              <a:t>visualiser, annoter, traduire et valider</a:t>
            </a:r>
            <a:r>
              <a:rPr lang="fr-FR" noProof="0" dirty="0"/>
              <a:t> le concept avant implémentation.</a:t>
            </a:r>
          </a:p>
        </p:txBody>
      </p:sp>
    </p:spTree>
    <p:extLst>
      <p:ext uri="{BB962C8B-B14F-4D97-AF65-F5344CB8AC3E}">
        <p14:creationId xmlns:p14="http://schemas.microsoft.com/office/powerpoint/2010/main" val="406471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995934"/>
          </a:xfrm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>
            <a:noAutofit/>
          </a:bodyPr>
          <a:lstStyle/>
          <a:p>
            <a:pPr algn="ctr"/>
            <a:r>
              <a:rPr lang="fr-FR" sz="4400" noProof="0" dirty="0">
                <a:solidFill>
                  <a:schemeClr val="accent3">
                    <a:lumMod val="75000"/>
                  </a:schemeClr>
                </a:solidFill>
              </a:rPr>
              <a:t>Architecture du système</a:t>
            </a:r>
            <a:endParaRPr lang="fr-FR" sz="4400" b="1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04335" y="1967679"/>
            <a:ext cx="9163665" cy="452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3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995934"/>
          </a:xfrm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>
            <a:noAutofit/>
          </a:bodyPr>
          <a:lstStyle/>
          <a:p>
            <a:pPr algn="ctr"/>
            <a:r>
              <a:rPr lang="fr-FR" sz="5400" noProof="0" dirty="0">
                <a:solidFill>
                  <a:schemeClr val="accent3">
                    <a:lumMod val="75000"/>
                  </a:schemeClr>
                </a:solidFill>
              </a:rPr>
              <a:t>Technologies utilisées</a:t>
            </a:r>
            <a:endParaRPr lang="fr-FR" sz="5400" b="1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Espace réservé du contenu 3"/>
          <p:cNvSpPr txBox="1">
            <a:spLocks/>
          </p:cNvSpPr>
          <p:nvPr/>
        </p:nvSpPr>
        <p:spPr>
          <a:xfrm>
            <a:off x="4670323" y="1762126"/>
            <a:ext cx="3362632" cy="5086348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fr-FR" noProof="0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4061654" y="2874138"/>
            <a:ext cx="413446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1800" b="1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Front-end</a:t>
            </a:r>
            <a:r>
              <a:rPr kumimoji="0" lang="fr-FR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sz="1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Angular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Node.js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1800" b="1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Back-end</a:t>
            </a:r>
            <a:r>
              <a:rPr kumimoji="0" lang="fr-FR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Flask API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de données :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Outils de design :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sz="1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Figma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Collaboration en temps réel :</a:t>
            </a: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sz="1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trello</a:t>
            </a:r>
            <a:endParaRPr kumimoji="0" lang="fr-FR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5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81" y="1752197"/>
            <a:ext cx="10687050" cy="467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4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11" y="1819199"/>
            <a:ext cx="6991896" cy="486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04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8" y="1737438"/>
            <a:ext cx="10992465" cy="48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9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8" y="2084832"/>
            <a:ext cx="1185940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1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778949"/>
            <a:ext cx="10825317" cy="49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1740956"/>
            <a:ext cx="10648335" cy="480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4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" y="2204259"/>
            <a:ext cx="11847871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7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1641325"/>
            <a:ext cx="11238271" cy="49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9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8" y="2607707"/>
            <a:ext cx="9720262" cy="337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6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57" y="1966452"/>
            <a:ext cx="11449994" cy="44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Démonstration / Implémentation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0435" y="2286000"/>
            <a:ext cx="872726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0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Résultats et évaluation</a:t>
            </a:r>
            <a:endParaRPr lang="fr-FR" b="1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345374" y="3302529"/>
            <a:ext cx="70775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Meilleure compréhension du vocabulaire et des intentions entre équipes.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Diminution du temps de communication et d’itérations.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Expériences utilisateur plus cohérentes et immersives.</a:t>
            </a:r>
          </a:p>
        </p:txBody>
      </p:sp>
    </p:spTree>
    <p:extLst>
      <p:ext uri="{BB962C8B-B14F-4D97-AF65-F5344CB8AC3E}">
        <p14:creationId xmlns:p14="http://schemas.microsoft.com/office/powerpoint/2010/main" val="189903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7818" y="737421"/>
            <a:ext cx="9720072" cy="1140542"/>
          </a:xfrm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/>
          <a:lstStyle/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Difficultés rencontrées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676275" y="3804473"/>
            <a:ext cx="760015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Intégration entre outils de design et outils de développement.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Standardisation du langage commun (vocabulaire visuel vs technique).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 de la synchronisation temps réel.</a:t>
            </a:r>
          </a:p>
        </p:txBody>
      </p:sp>
    </p:spTree>
    <p:extLst>
      <p:ext uri="{BB962C8B-B14F-4D97-AF65-F5344CB8AC3E}">
        <p14:creationId xmlns:p14="http://schemas.microsoft.com/office/powerpoint/2010/main" val="24543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313D4414-D4DC-4E30-BBBB-5A487FAA50C9}"/>
              </a:ext>
            </a:extLst>
          </p:cNvPr>
          <p:cNvSpPr txBox="1">
            <a:spLocks/>
          </p:cNvSpPr>
          <p:nvPr/>
        </p:nvSpPr>
        <p:spPr>
          <a:xfrm>
            <a:off x="921333" y="416838"/>
            <a:ext cx="9720072" cy="149961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500" dist="50800" dir="5400000" sy="-100000" algn="bl" rotWithShape="0"/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noProof="0" dirty="0">
                <a:solidFill>
                  <a:schemeClr val="accent3">
                    <a:lumMod val="75000"/>
                  </a:schemeClr>
                </a:solidFill>
              </a:rPr>
              <a:t>Perspectives d’évolution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759973" y="2802194"/>
            <a:ext cx="9271819" cy="222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fr-FR" noProof="0" dirty="0">
                <a:latin typeface="Arial" panose="020B0604020202020204" pitchFamily="34" charset="0"/>
              </a:rPr>
              <a:t>Ajout d’un </a:t>
            </a:r>
            <a:r>
              <a:rPr lang="fr-FR" b="1" noProof="0" dirty="0">
                <a:latin typeface="Arial" panose="020B0604020202020204" pitchFamily="34" charset="0"/>
              </a:rPr>
              <a:t>assistant IA</a:t>
            </a:r>
            <a:r>
              <a:rPr lang="fr-FR" noProof="0" dirty="0">
                <a:latin typeface="Arial" panose="020B0604020202020204" pitchFamily="34" charset="0"/>
              </a:rPr>
              <a:t> pour la traduction automatique des concepts design/techniques.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fr-FR" noProof="0" dirty="0">
                <a:latin typeface="Arial" panose="020B0604020202020204" pitchFamily="34" charset="0"/>
              </a:rPr>
              <a:t>Intégration avec des outils de création d’art numérique (</a:t>
            </a:r>
            <a:r>
              <a:rPr lang="fr-FR" noProof="0" dirty="0" err="1">
                <a:latin typeface="Arial" panose="020B0604020202020204" pitchFamily="34" charset="0"/>
              </a:rPr>
              <a:t>Unity</a:t>
            </a:r>
            <a:r>
              <a:rPr lang="fr-FR" noProof="0" dirty="0">
                <a:latin typeface="Arial" panose="020B0604020202020204" pitchFamily="34" charset="0"/>
              </a:rPr>
              <a:t>, </a:t>
            </a:r>
            <a:r>
              <a:rPr lang="fr-FR" noProof="0" dirty="0" err="1">
                <a:latin typeface="Arial" panose="020B0604020202020204" pitchFamily="34" charset="0"/>
              </a:rPr>
              <a:t>TouchDesigner</a:t>
            </a:r>
            <a:r>
              <a:rPr lang="fr-FR" noProof="0" dirty="0">
                <a:latin typeface="Arial" panose="020B0604020202020204" pitchFamily="34" charset="0"/>
              </a:rPr>
              <a:t>…).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fr-FR" noProof="0" dirty="0">
                <a:latin typeface="Arial" panose="020B0604020202020204" pitchFamily="34" charset="0"/>
              </a:rPr>
              <a:t>Ouverture à la </a:t>
            </a:r>
            <a:r>
              <a:rPr lang="fr-FR" b="1" noProof="0" dirty="0">
                <a:latin typeface="Arial" panose="020B0604020202020204" pitchFamily="34" charset="0"/>
              </a:rPr>
              <a:t>collaboration interdisciplinaire</a:t>
            </a:r>
            <a:r>
              <a:rPr lang="fr-FR" noProof="0" dirty="0">
                <a:latin typeface="Arial" panose="020B0604020202020204" pitchFamily="34" charset="0"/>
              </a:rPr>
              <a:t> (musiciens, scénographes, etc.).</a:t>
            </a:r>
          </a:p>
        </p:txBody>
      </p:sp>
    </p:spTree>
    <p:extLst>
      <p:ext uri="{BB962C8B-B14F-4D97-AF65-F5344CB8AC3E}">
        <p14:creationId xmlns:p14="http://schemas.microsoft.com/office/powerpoint/2010/main" val="616606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8348" y="802181"/>
            <a:ext cx="9720072" cy="1499616"/>
          </a:xfr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/>
          <a:lstStyle/>
          <a:p>
            <a:pPr algn="ctr"/>
            <a:r>
              <a:rPr lang="fr-FR" b="1" noProof="0" dirty="0">
                <a:solidFill>
                  <a:schemeClr val="accent3">
                    <a:lumMod val="75000"/>
                  </a:schemeClr>
                </a:solidFill>
              </a:rPr>
              <a:t>Conclusion</a:t>
            </a:r>
            <a:endParaRPr lang="fr-FR" noProof="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9771" y="3564203"/>
            <a:ext cx="12109533" cy="2482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noProof="0" dirty="0"/>
              <a:t>La plateforme crée un </a:t>
            </a:r>
            <a:r>
              <a:rPr lang="fr-FR" b="1" noProof="0" dirty="0"/>
              <a:t>pont entre le langage de l’art et celui du code</a:t>
            </a:r>
            <a:r>
              <a:rPr lang="fr-FR" noProof="0" dirty="0"/>
              <a:t>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noProof="0" dirty="0"/>
              <a:t>Elle ouvre la voie à une </a:t>
            </a:r>
            <a:r>
              <a:rPr lang="fr-FR" b="1" noProof="0" dirty="0"/>
              <a:t>nouvelle approche collaborative</a:t>
            </a:r>
            <a:r>
              <a:rPr lang="fr-FR" noProof="0" dirty="0"/>
              <a:t> dans la conception d’expériences interactives.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noProof="0" dirty="0"/>
              <a:t>Prochaine étape : tester à grande échelle avec de vrais binômes designer/développeur.</a:t>
            </a:r>
          </a:p>
        </p:txBody>
      </p:sp>
    </p:spTree>
    <p:extLst>
      <p:ext uri="{BB962C8B-B14F-4D97-AF65-F5344CB8AC3E}">
        <p14:creationId xmlns:p14="http://schemas.microsoft.com/office/powerpoint/2010/main" val="28761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7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7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7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7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43_TF22378848.potx" id="{64A03BB9-641C-4E3F-A694-C453BE723143}" vid="{428F3FFD-DDE8-4CA6-BE65-84BE1BF156D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openxmlformats.org/package/2006/metadata/core-properties"/>
    <ds:schemaRef ds:uri="http://purl.org/dc/elements/1.1/"/>
    <ds:schemaRef ds:uri="http://www.w3.org/XML/1998/namespace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453</Words>
  <Application>Microsoft Office PowerPoint</Application>
  <PresentationFormat>Grand écran</PresentationFormat>
  <Paragraphs>83</Paragraphs>
  <Slides>22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3" baseType="lpstr">
      <vt:lpstr>Arial</vt:lpstr>
      <vt:lpstr>Bahnschrift SemiBold SemiConden</vt:lpstr>
      <vt:lpstr>Calibri</vt:lpstr>
      <vt:lpstr>Century Gothic</vt:lpstr>
      <vt:lpstr>Raleway</vt:lpstr>
      <vt:lpstr>Times New Roman</vt:lpstr>
      <vt:lpstr>Tw Cen MT</vt:lpstr>
      <vt:lpstr>Tw Cen MT Condensed</vt:lpstr>
      <vt:lpstr>Wingdings</vt:lpstr>
      <vt:lpstr>Wingdings 3</vt:lpstr>
      <vt:lpstr>Intégral</vt:lpstr>
      <vt:lpstr>Collaboration Designer/Développeur en Art technologique : Implémentation d’un système de Création d'expériences utilisateur pour une meilleure collaboration Designer/ Développeur. </vt:lpstr>
      <vt:lpstr>plan</vt:lpstr>
      <vt:lpstr>Contexte et problématique</vt:lpstr>
      <vt:lpstr>Objectifs du projet</vt:lpstr>
      <vt:lpstr>Cas d’utilisation</vt:lpstr>
      <vt:lpstr>Architecture du système</vt:lpstr>
      <vt:lpstr>Technologies utilisées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Démonstration / Implémentation</vt:lpstr>
      <vt:lpstr>Résultats et évaluation</vt:lpstr>
      <vt:lpstr>Difficultés rencontrées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2025-05-16T16:08:43Z</dcterms:created>
  <dcterms:modified xsi:type="dcterms:W3CDTF">2025-10-30T06:01:53Z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